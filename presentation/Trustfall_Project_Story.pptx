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Messages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D3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BBF2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B718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0 labels</c:v>
                  </c:pt>
                  <c:pt idx="1">
                    <c:v>1 labels</c:v>
                  </c:pt>
                  <c:pt idx="2">
                    <c:v>2 labels</c:v>
                  </c:pt>
                  <c:pt idx="3">
                    <c:v>3 labels</c:v>
                  </c:pt>
                  <c:pt idx="4">
                    <c:v>4 labels</c:v>
                  </c:pt>
                  <c:pt idx="5">
                    <c:v>5 labels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11</c:v>
                </c:pt>
                <c:pt idx="2">
                  <c:v>11</c:v>
                </c:pt>
                <c:pt idx="3">
                  <c:v>8</c:v>
                </c:pt>
                <c:pt idx="4">
                  <c:v>4</c:v>
                </c:pt>
                <c:pt idx="5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33415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Valid JSON</c:v>
                  </c:pt>
                  <c:pt idx="1">
                    <c:v>Risk exact</c:v>
                  </c:pt>
                  <c:pt idx="2">
                    <c:v>Scam type exact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Valid JSON</c:v>
                  </c:pt>
                  <c:pt idx="1">
                    <c:v>Risk exact</c:v>
                  </c:pt>
                  <c:pt idx="2">
                    <c:v>Scam type exact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25</c:v>
                </c:pt>
                <c:pt idx="2">
                  <c:v>25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ukeJun/Desktop/Coding Projects/Hackathon Berkley 2026/trustfall-terac/presentation/assets/cover-laptop.jp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6263640" y="0"/>
            <a:ext cx="5925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60720" y="0"/>
            <a:ext cx="6428232" cy="6858000"/>
          </a:xfrm>
          <a:prstGeom prst="rect">
            <a:avLst/>
          </a:prstGeom>
          <a:solidFill>
            <a:srgbClr val="050B1C">
              <a:alpha val="62000"/>
            </a:srgbClr>
          </a:solidFill>
          <a:ln w="12700">
            <a:solidFill>
              <a:srgbClr val="050B1C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960120"/>
            <a:ext cx="109728" cy="11430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6858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2D3EE"/>
                </a:solidFill>
              </a:rPr>
              <a:t>TRUSTFALL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" y="11430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F8FAFC"/>
                </a:solidFill>
              </a:rPr>
              <a:t>Human data.</a:t>
            </a:r>
            <a:endParaRPr lang="en-US" sz="3900" dirty="0"/>
          </a:p>
          <a:p>
            <a:pPr indent="0" marL="0">
              <a:buNone/>
            </a:pPr>
            <a:r>
              <a:rPr lang="en-US" sz="3900" b="1" dirty="0">
                <a:solidFill>
                  <a:srgbClr val="F8FAFC"/>
                </a:solidFill>
              </a:rPr>
              <a:t>Safer inboxes.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841248" y="288036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A privacy-first workflow that turns real, redacted messages into human-labeled scam-safety intelligence.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3977640"/>
            <a:ext cx="1600200" cy="320040"/>
          </a:xfrm>
          <a:prstGeom prst="roundRect">
            <a:avLst>
              <a:gd name="adj" fmla="val 22857"/>
            </a:avLst>
          </a:prstGeom>
          <a:solidFill>
            <a:srgbClr val="22D3EE">
              <a:alpha val="88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32688" y="4059936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0B1C"/>
                </a:solidFill>
              </a:rPr>
              <a:t>Berkeley Hackathon 2026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841248" y="46817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Collection → redaction → consensus labels → Qwen adaptation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The inbox is an adversarial interface.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8016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Scams borrow the visual language of trust. People need a calm, practical second opinion at the moment of uncertainty.</a:t>
            </a:r>
            <a:endParaRPr lang="en-US" sz="1150" dirty="0"/>
          </a:p>
        </p:txBody>
      </p:sp>
      <p:pic>
        <p:nvPicPr>
          <p:cNvPr id="6" name="Image 0" descr="/Users/LukeJun/Desktop/Coding Projects/Hackathon Berkley 2026/trustfall-terac/presentation/assets/cybersecur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783080"/>
            <a:ext cx="374904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2148840" cy="30632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7E1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80360" y="1874520"/>
            <a:ext cx="2148840" cy="30632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7E1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12080" y="1874520"/>
            <a:ext cx="2148840" cy="30632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7E1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2240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01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Real signals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77240" y="324612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Tone, links, sender mismatch, and urgency matter together.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108960" y="2240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02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108960" y="2651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Private by default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108960" y="324612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Raw emails should not become a training-data liability.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440680" y="2240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03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440680" y="2651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Advice people use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440680" y="324612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A risk score is not enough; people need the next safe action.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2  |  Live metric refresh: 2026-06-21 07:30 UTC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2D3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</a:rPr>
              <a:t>Trustfall converts lived experience into an inspectable learning loop.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8016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Every stage is intentionally narrow: collect safely, remove identifiers, ask humans for judgment, then adapt the model.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2395728" cy="2240280"/>
          </a:xfrm>
          <a:prstGeom prst="roundRect">
            <a:avLst>
              <a:gd name="adj" fmla="val 3265"/>
            </a:avLst>
          </a:prstGeom>
          <a:solidFill>
            <a:srgbClr val="101E3D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14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</a:rPr>
              <a:t>Collect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Real messages via Terac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127248" y="3063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D3EE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520440" y="2240280"/>
            <a:ext cx="2395728" cy="2240280"/>
          </a:xfrm>
          <a:prstGeom prst="roundRect">
            <a:avLst>
              <a:gd name="adj" fmla="val 3265"/>
            </a:avLst>
          </a:prstGeom>
          <a:solidFill>
            <a:srgbClr val="101E3D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2514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49040" y="2971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</a:rPr>
              <a:t>Redact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749040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Client + server safety layers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007608" y="3063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D3EE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2240280"/>
            <a:ext cx="2395728" cy="2240280"/>
          </a:xfrm>
          <a:prstGeom prst="roundRect">
            <a:avLst>
              <a:gd name="adj" fmla="val 3265"/>
            </a:avLst>
          </a:prstGeom>
          <a:solidFill>
            <a:srgbClr val="101E3D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2514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2971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</a:rPr>
              <a:t>Label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629400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Independent human judgments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887968" y="3063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D3EE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281160" y="2240280"/>
            <a:ext cx="2395728" cy="2240280"/>
          </a:xfrm>
          <a:prstGeom prst="roundRect">
            <a:avLst>
              <a:gd name="adj" fmla="val 3265"/>
            </a:avLst>
          </a:prstGeom>
          <a:solidFill>
            <a:srgbClr val="101E3D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0" y="2514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509760" y="2971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</a:rPr>
              <a:t>Learn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509760" y="3566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LoRA adapter + holdout test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3  |  Live metric refresh: 2026-06-21 07:30 UTC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Privacy is product architecture—not a cleanup step.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8016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Trustfall keeps the useful evidence while stripping the sensitive payload.</a:t>
            </a:r>
            <a:endParaRPr lang="en-US" sz="1150" dirty="0"/>
          </a:p>
        </p:txBody>
      </p:sp>
      <p:pic>
        <p:nvPicPr>
          <p:cNvPr id="6" name="Image 0" descr="/Users/LukeJun/Desktop/Coding Projects/Hackathon Berkley 2026/trustfall-terac/presentation/assets/cover-laptop.jp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7772400" y="1737360"/>
            <a:ext cx="384048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1901952"/>
            <a:ext cx="384048" cy="38404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975104"/>
            <a:ext cx="182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0B1C"/>
                </a:solidFill>
              </a:rPr>
              <a:t>✓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280160" y="1828800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Raw .eml stays client-side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80160" y="22585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Headers, attachments, and original files are not stored.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182112"/>
            <a:ext cx="384048" cy="38404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3255264"/>
            <a:ext cx="182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0B1C"/>
                </a:solidFill>
              </a:rPr>
              <a:t>✓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280160" y="3108960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Identifiers become placeholders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280160" y="353872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Names display as [PERSON]; links are defanged and tracking is removed.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4462272"/>
            <a:ext cx="384048" cy="38404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8096" y="4535424"/>
            <a:ext cx="182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0B1C"/>
                </a:solidFill>
              </a:rPr>
              <a:t>✓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280160" y="4389120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</a:rPr>
              <a:t>Training uses sanitized fields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280160" y="481888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Only redacted text and structured safety features reach the model pipeline.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4  |  Live metric refresh: 2026-06-21 07:30 UTC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2D3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</a:rPr>
              <a:t>The pilot is real: people submit, people review, the system learns.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8016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Live operations are separated from synthetic QA fixtures and the model never edits source evidence.</a:t>
            </a:r>
            <a:endParaRPr lang="en-US" sz="1150" dirty="0"/>
          </a:p>
        </p:txBody>
      </p:sp>
      <p:pic>
        <p:nvPicPr>
          <p:cNvPr id="6" name="Image 0" descr="/Users/LukeJun/Desktop/Coding Projects/Hackathon Berkley 2026/trustfall-terac/presentation/assets/team.jp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7818120" y="1691640"/>
            <a:ext cx="3566160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05740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2D3EE"/>
                </a:solidFill>
              </a:rPr>
              <a:t>50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31520" y="258775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real sanitized messages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3063240" y="205740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4D399"/>
                </a:solidFill>
              </a:rPr>
              <a:t>15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3063240" y="258775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Wave 2 labeler capacity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394960" y="205740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BBF24"/>
                </a:solidFill>
              </a:rPr>
              <a:t>78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5394960" y="258775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human labels saved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31520" y="3886200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The collection and labeling layer is already running in production through Terac. Every metric in this deck comes from the same database the app uses.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5  |  Live metric refresh: 2026-06-21 07:30 UTC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Consensus is a quality gate, not a checkbox.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8016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Messages need two independent labels and sufficient agreement before they enter a training snapshot.</a:t>
            </a:r>
            <a:endParaRPr lang="en-US" sz="11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1920240"/>
          <a:ext cx="56692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1965960"/>
            <a:ext cx="434340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E1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78040" y="2331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563EB"/>
                </a:solidFill>
              </a:rPr>
              <a:t>20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7178040" y="286207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consensus-eligible in current snapshot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372600" y="23317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8B5CF6"/>
                </a:solidFill>
              </a:rPr>
              <a:t>16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9372600" y="286207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training examples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178040" y="402336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4D399"/>
                </a:solidFill>
              </a:rPr>
              <a:t>4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7178040" y="455371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frozen holdout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178040" y="473659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Quality exclusions stay visible: unreadable records, insufficient labels, and low agreement are not silently treated as truth.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6  |  Live metric refresh: 2026-06-21 07:30 UTC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2D3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</a:rPr>
              <a:t>Start with a baseline, not a claim.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8016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Qwen/Qwen3-0.6B first reads the original sanitized Wave 1 data. Its outputs become the before-training reference.</a:t>
            </a:r>
            <a:endParaRPr lang="en-US" sz="1150" dirty="0"/>
          </a:p>
        </p:txBody>
      </p:sp>
      <p:pic>
        <p:nvPicPr>
          <p:cNvPr id="6" name="Image 0" descr="/Users/LukeJun/Desktop/Coding Projects/Hackathon Berkley 2026/trustfall-terac/presentation/assets/data-dashboard.jp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7726680" y="1691640"/>
            <a:ext cx="384048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1031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2D3EE"/>
                </a:solidFill>
              </a:rPr>
              <a:t>75%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31520" y="263347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valid JSON on held-out messages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3337560" y="21031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BBF24"/>
                </a:solidFill>
              </a:rPr>
              <a:t>0%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3337560" y="263347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risk-level exact match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943600" y="21031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B7185"/>
                </a:solidFill>
              </a:rPr>
              <a:t>0%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5943600" y="263347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scam-type exact match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49808" y="388620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The baseline gives us something far more honest than a demo screenshot: a concrete point of comparison for formatting, safety-taxonomy alignment, and advice quality.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7  |  Live metric refresh: 2026-06-21 07:30 UTC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Fine-tuning improves structured behavior—while the evidence stays modest.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8016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The LoRA adapter was trained on the frozen consensus snapshot and evaluated only on unseen messages.</a:t>
            </a:r>
            <a:endParaRPr lang="en-US" sz="11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182880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1901952"/>
            <a:ext cx="3749040" cy="3584448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7E1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095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What changed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909560" y="28803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22D3EE"/>
                </a:solidFill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Valid JSON rose to 100% on the frozen holdout.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36576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22D3EE"/>
                </a:solidFill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Exact accuracy is directional only: the holdout has just 4 examples.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909560" y="44348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22D3EE"/>
                </a:solidFill>
              </a:rPr>
              <a:t>•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The adapter is a pilot artifact, not a production claim.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8  |  Live metric refresh: 2026-06-21 07:30 UTC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A pipeline that is inspectable at every handoff.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8016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The operational app, data store, and local ML workflow stay deliberately separate.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85800" y="2011680"/>
            <a:ext cx="32004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7E1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3774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Production app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41832" y="30632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Vercel + Next.js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Terac task routes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Admin review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959352" y="3246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D3EE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80560" y="2011680"/>
            <a:ext cx="32004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7E1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23774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Data layer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36592" y="30632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Neon Postgres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Sanitized messages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Assignments + labels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54112" y="3246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D3EE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75320" y="2011680"/>
            <a:ext cx="32004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7E1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31352" y="23774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ML workstation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531352" y="30632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Qwen baseline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Consensus export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LoRA adapter + holdout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9  |  Live metric refresh: 2026-06-21 07:30 UTC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2D3E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</a:rPr>
              <a:t>What makes Trustfall more than a scam classifier demo.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8016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</a:rPr>
              <a:t>The product is the feedback loop: real examples, privacy boundaries, human judgment, and measured model change.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101E3D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194560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Real-world inputs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58775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Collected through a live task workflow—not a fabricated benchmark.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196596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101E3D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2194560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Human consensus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258775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Independent labels create a visible quality gate.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" y="370332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101E3D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931920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Before / after evidence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3251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A frozen holdout protects the story from self-deception.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70332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101E3D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3931920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Re-runnable metrics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29400" y="43251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One refresh script updates the deck as data arrives.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10  |  Live metric refresh: 2026-06-21 07:30 UTC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TRUSTFALL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827"/>
                </a:solidFill>
              </a:rPr>
              <a:t>The next build is stronger agreement—not a bigger claim.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21208" y="128016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</a:rPr>
              <a:t>The pilot has proven the loop. More completed labels make the next training snapshot materially more credible.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85800" y="2103120"/>
            <a:ext cx="32461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E1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</a:rPr>
              <a:t>Now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Finish active Wave 2 labels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Refresh metrics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Rebuild consensus snapshot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80560" y="2103120"/>
            <a:ext cx="32461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E1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</a:rPr>
              <a:t>Next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09160" y="30175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Retrain adapter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Expand frozen holdout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Review disagreements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75320" y="2103120"/>
            <a:ext cx="32461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7E1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</a:rPr>
              <a:t>Then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503920" y="30175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Prototype the end-user warning experience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Test whether advice changes safer behavior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5257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34155"/>
                </a:solidFill>
              </a:rPr>
              <a:t>Trustfall is designed to become more useful as human judgment accumulates—without relaxing the privacy rules that make the data usable in the first place.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11  |  Live metric refresh: 2026-06-21 07:30 UTC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60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8FAFC"/>
                </a:solidFill>
              </a:rPr>
              <a:t>Trustfall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667512" y="1664208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</a:rPr>
              <a:t>Build safer inboxes from human judgment—without treating private messages as raw material.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85800" y="2743200"/>
            <a:ext cx="4480560" cy="0"/>
          </a:xfrm>
          <a:prstGeom prst="line">
            <a:avLst/>
          </a:prstGeom>
          <a:noFill/>
          <a:ln w="1270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3154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Deck refresh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347472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set -a; source .env.local; set +a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.venv-qwen/bin/python scripts/refresh_presentation_metrics.py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node scripts/generate_presentation.cjs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5852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Photography credits: Unsplash — cover laptop (photo-1516321318423-f06f85e504b3), cybersecurity (photo-1550751827-4bd374c3f58b), analytics (photo-1551288049-bebda4e38f71), team (photo-1521737711867-e3b97375f902).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12  |  Live metric refresh: 2026-06-21 07:30 UTC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Trustfall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Trustfall — Human data, safer inboxes</dc:title>
  <dc:subject>Trustfall: privacy-first human data to scam-safety model</dc:subject>
  <dc:creator>Trustfall</dc:creator>
  <cp:lastModifiedBy>Trustfall</cp:lastModifiedBy>
  <cp:revision>1</cp:revision>
  <dcterms:created xsi:type="dcterms:W3CDTF">2026-06-21T07:30:58Z</dcterms:created>
  <dcterms:modified xsi:type="dcterms:W3CDTF">2026-06-21T07:30:58Z</dcterms:modified>
</cp:coreProperties>
</file>