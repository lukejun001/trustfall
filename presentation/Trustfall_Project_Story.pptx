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 labels</c:v>
                  </c:pt>
                  <c:pt idx="1">
                    <c:v>1 labels</c:v>
                  </c:pt>
                  <c:pt idx="2">
                    <c:v>2 labels</c:v>
                  </c:pt>
                  <c:pt idx="3">
                    <c:v>3 labels</c:v>
                  </c:pt>
                  <c:pt idx="4">
                    <c:v>4 labels</c:v>
                  </c:pt>
                  <c:pt idx="5">
                    <c:v>5 labels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15</c:v>
                </c:pt>
                <c:pt idx="2">
                  <c:v>16</c:v>
                </c:pt>
                <c:pt idx="3">
                  <c:v>12</c:v>
                </c:pt>
                <c:pt idx="4">
                  <c:v>7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Valid JSON</c:v>
                  </c:pt>
                  <c:pt idx="1">
                    <c:v>Risk exact</c:v>
                  </c:pt>
                  <c:pt idx="2">
                    <c:v>Scam type exact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88.88888888888889</c:v>
                </c:pt>
                <c:pt idx="1">
                  <c:v>33.33333333333333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Valid JSON</c:v>
                  </c:pt>
                  <c:pt idx="1">
                    <c:v>Risk exact</c:v>
                  </c:pt>
                  <c:pt idx="2">
                    <c:v>Scam type exact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33.33333333333333</c:v>
                </c:pt>
                <c:pt idx="2">
                  <c:v>11.11111111111111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keJun/Desktop/Coding Projects/Hackathon Berkley 2026/trustfall-terac/presentation/assets/cover-laptop.jp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0" y="0"/>
            <a:ext cx="6428232" cy="6858000"/>
          </a:xfrm>
          <a:prstGeom prst="rect">
            <a:avLst/>
          </a:prstGeom>
          <a:solidFill>
            <a:srgbClr val="050B1C">
              <a:alpha val="62000"/>
            </a:srgbClr>
          </a:solidFill>
          <a:ln w="12700">
            <a:solidFill>
              <a:srgbClr val="050B1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960120"/>
            <a:ext cx="10972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85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TRUSTFALL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</a:rPr>
              <a:t>Human data.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</a:rPr>
              <a:t>Safer inboxes.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41248" y="28803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privacy-first workflow that turns real, redacted messages into human-labeled scam-safety intelligence.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22D3EE">
              <a:alpha val="8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0B1C"/>
                </a:solidFill>
              </a:rPr>
              <a:t>Berkeley Hackathon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41248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Collection → redaction → consensus labels → Qwen adaptation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The inbox is an adversarial interface.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Scams borrow the visual language of trust. People need a calm, practical second opinion at the moment of uncertainty.</a:t>
            </a:r>
            <a:endParaRPr lang="en-US" sz="1150" dirty="0"/>
          </a:p>
        </p:txBody>
      </p:sp>
      <p:pic>
        <p:nvPicPr>
          <p:cNvPr id="6" name="Image 0" descr="/Users/LukeJun/Desktop/Coding Projects/Hackathon Berkley 2026/trustfall-terac/presentation/assets/cybersecur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783080"/>
            <a:ext cx="37490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0360" y="187452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12080" y="187452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Real signals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32461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Tone, links, sender mismatch, and urgency matter together.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0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08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Private by default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08960" y="32461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Raw emails should not become a training-data liability.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40680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Advice people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32461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 risk score is not enough; people need the next safe action.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Trustfall converts lived experience into an inspectable learning loop.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Every stage is intentionally narrow: collect safely, remove identifiers, ask humans for judgment, then adapt the model.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Collect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Real messages via Terac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224028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Redact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Client + server safety layers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07608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24028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Label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Independent human judgments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87968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81160" y="224028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Learn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50976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LoRA adapter + holdout test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Privacy is product architecture—not a cleanup step.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Trustfall keeps the useful evidence while stripping the sensitive payload.</a:t>
            </a:r>
            <a:endParaRPr lang="en-US" sz="1150" dirty="0"/>
          </a:p>
        </p:txBody>
      </p:sp>
      <p:pic>
        <p:nvPicPr>
          <p:cNvPr id="6" name="Image 0" descr="/Users/LukeJun/Desktop/Coding Projects/Hackathon Berkley 2026/trustfall-terac/presentation/assets/cover-laptop.jp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7772400" y="1737360"/>
            <a:ext cx="384048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90195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197510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B1C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80160" y="18288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Raw .eml stays client-side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22585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Headers, attachments, and original files are not stored.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318211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25526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B1C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31089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Identifiers become placeholders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80160" y="35387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Names display as [PERSON]; links are defanged and tracking is removed.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46227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4535424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B1C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80160" y="43891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Training uses sanitized fields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80160" y="481888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Only redacted text and structured safety features reach the model pipeline.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The pilot is real: people submit, people review, the system learns.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Live operations are separated from synthetic QA fixtures and the model never edits source evidence.</a:t>
            </a:r>
            <a:endParaRPr lang="en-US" sz="1150" dirty="0"/>
          </a:p>
        </p:txBody>
      </p:sp>
      <p:pic>
        <p:nvPicPr>
          <p:cNvPr id="6" name="Image 0" descr="/Users/LukeJun/Desktop/Coding Projects/Hackathon Berkley 2026/trustfall-terac/presentation/assets/team.jp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818120" y="1691640"/>
            <a:ext cx="35661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574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58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31520" y="25877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real sanitized messages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063240" y="20574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4D399"/>
                </a:solidFill>
              </a:rPr>
              <a:t>21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063240" y="25877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Wave 2 labeler capacity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94960" y="20574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BF24"/>
                </a:solidFill>
              </a:rPr>
              <a:t>116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394960" y="25877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human labels saved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388620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collection and labeling layer is already running in production through Terac. Every metric in this deck comes from the same database the app uses.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Consensus is a quality gate, not a checkbox.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Messages need two independent labels and sufficient agreement before they enter a training snapshot.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9202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96596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2331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51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178040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final-target messages in frozen snapshot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72600" y="2331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5CF6"/>
                </a:solidFill>
              </a:rPr>
              <a:t>35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372600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training examples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78040" y="4023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4D399"/>
                </a:solidFill>
              </a:rPr>
              <a:t>9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7178040" y="45537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frozen test holdout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78040" y="47365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Provenance: 23 worker-consensus + 28 expert-adjudicated. Unreadable records, insufficient labels, and low agreement stay excluded rather than treated as truth.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Start with a baseline, not a claim.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Qwen/Qwen3-0.6B first reads the original sanitized Wave 1 data. Its outputs become the before-training reference.</a:t>
            </a:r>
            <a:endParaRPr lang="en-US" sz="1150" dirty="0"/>
          </a:p>
        </p:txBody>
      </p:sp>
      <p:pic>
        <p:nvPicPr>
          <p:cNvPr id="6" name="Image 0" descr="/Users/LukeJun/Desktop/Coding Projects/Hackathon Berkley 2026/trustfall-terac/presentation/assets/data-dashboard.jp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7726680" y="1691640"/>
            <a:ext cx="38404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03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89%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3152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valid JSON on held-out messages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37560" y="2103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BF24"/>
                </a:solidFill>
              </a:rPr>
              <a:t>33%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33756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risk-level exact match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0" y="2103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7185"/>
                </a:solidFill>
              </a:rPr>
              <a:t>0%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943600" y="26334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scam-type exact match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9808" y="3886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The baseline gives us something far more honest than a demo screenshot: a concrete point of comparison for formatting, safety-taxonomy alignment, and advice quality.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Fine-tuning improves structured behavior—while the evidence stays modest.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LoRA adapter was trained on the frozen consensus snapshot and evaluated only on unseen messages.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2880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901952"/>
            <a:ext cx="374904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What changed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09560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D3EE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Valid JSON rose to 100% on the frozen test split.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3657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D3EE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Risk within-one-level: 78%. Directional only: the test split has 9 examples.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4434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D3EE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adapter is a pilot artifact, not a production claim.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8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 pipeline that is inspectable at every handoff.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operational app, data store, and local ML workflow stay deliberately separate.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Production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30632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Vercel + Next.js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Terac task routes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Admin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59352" y="3246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Data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6592" y="30632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Neon Postgres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Sanitized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Assignments + labels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54112" y="3246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75320" y="201168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ML workstation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31352" y="30632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Qwen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Consensus export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LoRA adapter + holdout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9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What makes Trustfall more than a scam classifier demo.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The product is the feedback loop: real examples, privacy boundaries, human judgment, and measured model change.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Real-world inputs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87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Collected through a live task workflow—not a fabricated benchmark.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945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Human consensus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587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Independent labels create a visible quality gate.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319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Before / after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325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 frozen holdout protects the story from self-deception.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7033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01E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9319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Re-runnable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4325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One refresh script updates the deck as data arrives.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The next build is stronger agreement—not a bigger claim.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280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pilot has proven the loop. More completed labels make the next training snapshot materially more credible.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Finish active Wave 2 labels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Refresh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Rebuild consensus snapshot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Retrain adapter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Expand frozen holdout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Review disagreements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210312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Then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017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Prototype the end-user warning experience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Test whether advice changes safer behavior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Trustfall is designed to become more useful as human judgment accumulates—without relaxing the privacy rules that make the data usable in the first place.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11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</a:rPr>
              <a:t>Trustfall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7512" y="16642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Build safer inboxes from human judgment—without treating private messages as raw material.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44805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Deck refresh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 -a; source .env.local; set +a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.venv-qwen/bin/python scripts/refresh_presentation_metrics.py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node scripts/generate_presentation.cjs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Photography credits: Unsplash — cover laptop (photo-1516321318423-f06f85e504b3), cybersecurity (photo-1550751827-4bd374c3f58b), analytics (photo-1551288049-bebda4e38f71), team (photo-1521737711867-e3b97375f902).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  |  Live metric refresh: 2026-06-21 08:37 UTC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Trustfall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Trustfall — Human data, safer inboxes</dc:title>
  <dc:subject>Trustfall: privacy-first human data to scam-safety model</dc:subject>
  <dc:creator>Trustfall</dc:creator>
  <cp:lastModifiedBy>Trustfall</cp:lastModifiedBy>
  <cp:revision>1</cp:revision>
  <dcterms:created xsi:type="dcterms:W3CDTF">2026-06-21T08:37:30Z</dcterms:created>
  <dcterms:modified xsi:type="dcterms:W3CDTF">2026-06-21T08:37:30Z</dcterms:modified>
</cp:coreProperties>
</file>